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60" r:id="rId4"/>
    <p:sldId id="257" r:id="rId5"/>
    <p:sldId id="263" r:id="rId6"/>
    <p:sldId id="264" r:id="rId7"/>
    <p:sldId id="265" r:id="rId8"/>
    <p:sldId id="266" r:id="rId9"/>
    <p:sldId id="261" r:id="rId10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Segoe UI" panose="020B0502040204020203" pitchFamily="34" charset="0"/>
        <a:ea typeface="Microsoft YaHei Light" panose="020B0502040204020203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34" charset="0"/>
        <a:ea typeface="Microsoft YaHei Light" panose="020B0502040204020203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Segoe UI" panose="020B0502040204020203" pitchFamily="34" charset="0"/>
        <a:ea typeface="Microsoft YaHei Light" panose="020B0502040204020203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Segoe UI" panose="020B0502040204020203" pitchFamily="34" charset="0"/>
        <a:ea typeface="Microsoft YaHei Light" panose="020B0502040204020203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Segoe UI" panose="020B0502040204020203" pitchFamily="34" charset="0"/>
        <a:ea typeface="Microsoft YaHei Light" panose="020B0502040204020203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Segoe UI" panose="020B0502040204020203" pitchFamily="34" charset="0"/>
        <a:ea typeface="Microsoft YaHei Light" panose="020B0502040204020203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Segoe UI" panose="020B0502040204020203" pitchFamily="34" charset="0"/>
        <a:ea typeface="Microsoft YaHei Light" panose="020B0502040204020203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Segoe UI" panose="020B0502040204020203" pitchFamily="34" charset="0"/>
        <a:ea typeface="Microsoft YaHei Light" panose="020B0502040204020203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Segoe UI" panose="020B0502040204020203" pitchFamily="34" charset="0"/>
        <a:ea typeface="Microsoft YaHei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A982"/>
    <a:srgbClr val="E2AF32"/>
    <a:srgbClr val="1575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/>
    <p:restoredTop sz="94660"/>
  </p:normalViewPr>
  <p:slideViewPr>
    <p:cSldViewPr snapToGrid="0" showGuides="1">
      <p:cViewPr>
        <p:scale>
          <a:sx n="78" d="100"/>
          <a:sy n="78" d="100"/>
        </p:scale>
        <p:origin x="45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57" d="100"/>
        <a:sy n="57" d="100"/>
      </p:scale>
      <p:origin x="0" y="-4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Segoe UI" panose="020B0502040204020203" pitchFamily="34" charset="0"/>
                <a:ea typeface="Microsoft YaHei Light" panose="020B0502040204020203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Segoe UI" panose="020B0502040204020203" pitchFamily="34" charset="0"/>
                <a:ea typeface="Microsoft YaHei Light" panose="020B0502040204020203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Segoe UI" panose="020B0502040204020203" pitchFamily="34" charset="0"/>
                <a:ea typeface="Microsoft YaHei Light" panose="020B0502040204020203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126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6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Segoe UI" panose="020B0502040204020203" pitchFamily="34" charset="0"/>
                <a:ea typeface="Microsoft YaHei Light" panose="020B0502040204020203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3B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439738" y="1676400"/>
            <a:ext cx="3632200" cy="3632200"/>
          </a:xfrm>
          <a:prstGeom prst="ellipse">
            <a:avLst/>
          </a:prstGeom>
          <a:solidFill>
            <a:srgbClr val="E2A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 flipV="1">
            <a:off x="9982200" y="5737225"/>
            <a:ext cx="876300" cy="876300"/>
          </a:xfrm>
          <a:prstGeom prst="ellipse">
            <a:avLst/>
          </a:prstGeom>
          <a:solidFill>
            <a:srgbClr val="25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t="8654" b="8654"/>
          <a:stretch>
            <a:fillRect/>
          </a:stretch>
        </p:blipFill>
        <p:spPr>
          <a:xfrm rot="3083445">
            <a:off x="9920081" y="5639016"/>
            <a:ext cx="853916" cy="853913"/>
          </a:xfrm>
          <a:prstGeom prst="ellipse">
            <a:avLst/>
          </a:prstGeom>
        </p:spPr>
      </p:pic>
      <p:sp>
        <p:nvSpPr>
          <p:cNvPr id="10" name="任意多边形 9"/>
          <p:cNvSpPr/>
          <p:nvPr/>
        </p:nvSpPr>
        <p:spPr>
          <a:xfrm>
            <a:off x="0" y="0"/>
            <a:ext cx="1011238" cy="1824038"/>
          </a:xfrm>
          <a:custGeom>
            <a:avLst/>
            <a:gdLst>
              <a:gd name="connsiteX0" fmla="*/ 0 w 1010563"/>
              <a:gd name="connsiteY0" fmla="*/ 0 h 1823323"/>
              <a:gd name="connsiteX1" fmla="*/ 1010563 w 1010563"/>
              <a:gd name="connsiteY1" fmla="*/ 0 h 1823323"/>
              <a:gd name="connsiteX2" fmla="*/ 1000129 w 1010563"/>
              <a:gd name="connsiteY2" fmla="*/ 206628 h 1823323"/>
              <a:gd name="connsiteX3" fmla="*/ 146295 w 1010563"/>
              <a:gd name="connsiteY3" fmla="*/ 1722568 h 1823323"/>
              <a:gd name="connsiteX4" fmla="*/ 0 w 1010563"/>
              <a:gd name="connsiteY4" fmla="*/ 1823323 h 1823323"/>
              <a:gd name="connsiteX5" fmla="*/ 0 w 1010563"/>
              <a:gd name="connsiteY5" fmla="*/ 0 h 1823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10563" h="1823323">
                <a:moveTo>
                  <a:pt x="0" y="0"/>
                </a:moveTo>
                <a:lnTo>
                  <a:pt x="1010563" y="0"/>
                </a:lnTo>
                <a:lnTo>
                  <a:pt x="1000129" y="206628"/>
                </a:lnTo>
                <a:cubicBezTo>
                  <a:pt x="937342" y="824890"/>
                  <a:pt x="616167" y="1366766"/>
                  <a:pt x="146295" y="1722568"/>
                </a:cubicBezTo>
                <a:lnTo>
                  <a:pt x="0" y="1823323"/>
                </a:lnTo>
                <a:lnTo>
                  <a:pt x="0" y="0"/>
                </a:lnTo>
                <a:close/>
              </a:path>
            </a:pathLst>
          </a:custGeom>
          <a:solidFill>
            <a:srgbClr val="1575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10702925" y="3225800"/>
            <a:ext cx="1489075" cy="3397250"/>
          </a:xfrm>
          <a:custGeom>
            <a:avLst/>
            <a:gdLst>
              <a:gd name="connsiteX0" fmla="*/ 1489710 w 1489710"/>
              <a:gd name="connsiteY0" fmla="*/ 0 h 3396189"/>
              <a:gd name="connsiteX1" fmla="*/ 1489710 w 1489710"/>
              <a:gd name="connsiteY1" fmla="*/ 3396189 h 3396189"/>
              <a:gd name="connsiteX2" fmla="*/ 1368969 w 1489710"/>
              <a:gd name="connsiteY2" fmla="*/ 3377761 h 3396189"/>
              <a:gd name="connsiteX3" fmla="*/ 0 w 1489710"/>
              <a:gd name="connsiteY3" fmla="*/ 1698094 h 3396189"/>
              <a:gd name="connsiteX4" fmla="*/ 1368969 w 1489710"/>
              <a:gd name="connsiteY4" fmla="*/ 18427 h 3396189"/>
              <a:gd name="connsiteX5" fmla="*/ 1489710 w 1489710"/>
              <a:gd name="connsiteY5" fmla="*/ 0 h 3396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9710" h="3396189">
                <a:moveTo>
                  <a:pt x="1489710" y="0"/>
                </a:moveTo>
                <a:lnTo>
                  <a:pt x="1489710" y="3396189"/>
                </a:lnTo>
                <a:lnTo>
                  <a:pt x="1368969" y="3377761"/>
                </a:lnTo>
                <a:cubicBezTo>
                  <a:pt x="587700" y="3217891"/>
                  <a:pt x="0" y="2526625"/>
                  <a:pt x="0" y="1698094"/>
                </a:cubicBezTo>
                <a:cubicBezTo>
                  <a:pt x="0" y="869564"/>
                  <a:pt x="587700" y="178297"/>
                  <a:pt x="1368969" y="18427"/>
                </a:cubicBezTo>
                <a:lnTo>
                  <a:pt x="1489710" y="0"/>
                </a:lnTo>
                <a:close/>
              </a:path>
            </a:pathLst>
          </a:custGeom>
          <a:solidFill>
            <a:srgbClr val="25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/>
          <a:srcRect t="8654" b="8654"/>
          <a:stretch>
            <a:fillRect/>
          </a:stretch>
        </p:blipFill>
        <p:spPr>
          <a:xfrm rot="1986838">
            <a:off x="880628" y="1474070"/>
            <a:ext cx="3415079" cy="3415079"/>
          </a:xfrm>
          <a:prstGeom prst="ellipse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810385"/>
            <a:ext cx="1077468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9788" y="4015740"/>
            <a:ext cx="986250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3B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1" y="2492498"/>
            <a:ext cx="1995374" cy="1995374"/>
          </a:xfrm>
          <a:prstGeom prst="rect">
            <a:avLst/>
          </a:prstGeom>
          <a:solidFill>
            <a:srgbClr val="E2AF32"/>
          </a:solidFill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95370" y="658558"/>
            <a:ext cx="1799406" cy="1799403"/>
          </a:xfrm>
          <a:prstGeom prst="rect">
            <a:avLst/>
          </a:prstGeom>
          <a:solidFill>
            <a:srgbClr val="1575A8"/>
          </a:solidFill>
          <a:ln>
            <a:noFill/>
          </a:ln>
          <a:effectLst>
            <a:reflection blurRad="6350" stA="50000" endA="295" endPos="92000" dist="101600" dir="5400000" sy="-100000" algn="bl" rotWithShape="0"/>
          </a:effectLst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995373" y="3957038"/>
            <a:ext cx="2294238" cy="2294239"/>
          </a:xfrm>
          <a:prstGeom prst="rect">
            <a:avLst/>
          </a:prstGeom>
          <a:solidFill>
            <a:srgbClr val="25A982"/>
          </a:solidFill>
          <a:ln>
            <a:noFill/>
          </a:ln>
          <a:effectLst>
            <a:reflection blurRad="6350" stA="50000" endA="300" endPos="90000" dist="50800" dir="5400000" sy="-100000" algn="bl" rotWithShape="0"/>
          </a:effectLst>
          <a:scene3d>
            <a:camera prst="isometricBottom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 rot="1333911">
            <a:off x="11266590" y="5209058"/>
            <a:ext cx="804867" cy="804867"/>
          </a:xfrm>
          <a:prstGeom prst="rect">
            <a:avLst/>
          </a:prstGeom>
          <a:solidFill>
            <a:srgbClr val="1575A8"/>
          </a:solidFill>
          <a:ln>
            <a:noFill/>
          </a:ln>
          <a:effectLst>
            <a:reflection blurRad="6350" stA="50000" endA="295" endPos="92000" dist="101600" dir="5400000" sy="-100000" algn="bl" rotWithShape="0"/>
          </a:effectLst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995373" y="1299149"/>
            <a:ext cx="98701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66549" y="3581525"/>
            <a:ext cx="863574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bg>
      <p:bgPr>
        <a:solidFill>
          <a:srgbClr val="1575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6"/>
          <p:cNvGrpSpPr/>
          <p:nvPr userDrawn="1"/>
        </p:nvGrpSpPr>
        <p:grpSpPr>
          <a:xfrm>
            <a:off x="5846763" y="4205288"/>
            <a:ext cx="485775" cy="438150"/>
            <a:chOff x="3854621" y="4439238"/>
            <a:chExt cx="484632" cy="437614"/>
          </a:xfrm>
        </p:grpSpPr>
        <p:sp>
          <p:nvSpPr>
            <p:cNvPr id="8" name="燕尾形 7"/>
            <p:cNvSpPr/>
            <p:nvPr/>
          </p:nvSpPr>
          <p:spPr>
            <a:xfrm rot="5400000">
              <a:off x="3946709" y="4347145"/>
              <a:ext cx="300451" cy="484632"/>
            </a:xfrm>
            <a:prstGeom prst="chevron">
              <a:avLst>
                <a:gd name="adj" fmla="val 7636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 rot="5400000">
              <a:off x="3946709" y="4484308"/>
              <a:ext cx="300451" cy="484632"/>
            </a:xfrm>
            <a:prstGeom prst="chevron">
              <a:avLst>
                <a:gd name="adj" fmla="val 7636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576263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23853" y="3455988"/>
            <a:ext cx="714429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title">
    <p:bg>
      <p:bgPr>
        <a:solidFill>
          <a:srgbClr val="E2A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6"/>
          <p:cNvGrpSpPr/>
          <p:nvPr userDrawn="1"/>
        </p:nvGrpSpPr>
        <p:grpSpPr>
          <a:xfrm>
            <a:off x="5846763" y="4205288"/>
            <a:ext cx="485775" cy="438150"/>
            <a:chOff x="3854621" y="4439238"/>
            <a:chExt cx="484632" cy="437614"/>
          </a:xfrm>
        </p:grpSpPr>
        <p:sp>
          <p:nvSpPr>
            <p:cNvPr id="8" name="燕尾形 7"/>
            <p:cNvSpPr/>
            <p:nvPr/>
          </p:nvSpPr>
          <p:spPr>
            <a:xfrm rot="5400000">
              <a:off x="3946709" y="4347145"/>
              <a:ext cx="300451" cy="484632"/>
            </a:xfrm>
            <a:prstGeom prst="chevron">
              <a:avLst>
                <a:gd name="adj" fmla="val 763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 rot="5400000">
              <a:off x="3946709" y="4484308"/>
              <a:ext cx="300451" cy="484632"/>
            </a:xfrm>
            <a:prstGeom prst="chevron">
              <a:avLst>
                <a:gd name="adj" fmla="val 763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576263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23853" y="3455988"/>
            <a:ext cx="714429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title">
    <p:bg>
      <p:bgPr>
        <a:solidFill>
          <a:srgbClr val="25A9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组合 6"/>
          <p:cNvGrpSpPr/>
          <p:nvPr userDrawn="1"/>
        </p:nvGrpSpPr>
        <p:grpSpPr>
          <a:xfrm>
            <a:off x="5846763" y="4205288"/>
            <a:ext cx="485775" cy="438150"/>
            <a:chOff x="3854621" y="4439238"/>
            <a:chExt cx="484632" cy="437614"/>
          </a:xfrm>
        </p:grpSpPr>
        <p:sp>
          <p:nvSpPr>
            <p:cNvPr id="8" name="燕尾形 7"/>
            <p:cNvSpPr/>
            <p:nvPr/>
          </p:nvSpPr>
          <p:spPr>
            <a:xfrm rot="5400000">
              <a:off x="3946709" y="4347145"/>
              <a:ext cx="300451" cy="484632"/>
            </a:xfrm>
            <a:prstGeom prst="chevron">
              <a:avLst>
                <a:gd name="adj" fmla="val 763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 rot="5400000">
              <a:off x="3946709" y="4484308"/>
              <a:ext cx="300451" cy="484632"/>
            </a:xfrm>
            <a:prstGeom prst="chevron">
              <a:avLst>
                <a:gd name="adj" fmla="val 763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576263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23853" y="3455988"/>
            <a:ext cx="714429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3B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/>
          <p:cNvSpPr/>
          <p:nvPr/>
        </p:nvSpPr>
        <p:spPr>
          <a:xfrm>
            <a:off x="5702300" y="6519863"/>
            <a:ext cx="787400" cy="33813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575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732463" y="6519863"/>
            <a:ext cx="727075" cy="338138"/>
          </a:xfrm>
          <a:prstGeom prst="roundRect">
            <a:avLst>
              <a:gd name="adj" fmla="val 3229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rgbClr val="3B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/>
          <p:cNvSpPr/>
          <p:nvPr/>
        </p:nvSpPr>
        <p:spPr>
          <a:xfrm>
            <a:off x="5702300" y="6519863"/>
            <a:ext cx="787400" cy="33813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2A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732463" y="6519863"/>
            <a:ext cx="727075" cy="338138"/>
          </a:xfrm>
          <a:prstGeom prst="roundRect">
            <a:avLst>
              <a:gd name="adj" fmla="val 3229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solidFill>
          <a:srgbClr val="3B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/>
          <p:cNvSpPr/>
          <p:nvPr/>
        </p:nvSpPr>
        <p:spPr>
          <a:xfrm>
            <a:off x="5702300" y="6519863"/>
            <a:ext cx="787400" cy="33813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A9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732463" y="6519863"/>
            <a:ext cx="727075" cy="338138"/>
          </a:xfrm>
          <a:prstGeom prst="roundRect">
            <a:avLst>
              <a:gd name="adj" fmla="val 3229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417F312-AE95-46C5-991C-3338A804F0A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2321763" y="830519"/>
            <a:ext cx="9870141" cy="2387600"/>
          </a:xfrm>
        </p:spPr>
        <p:txBody>
          <a:bodyPr/>
          <a:p>
            <a:r>
              <a:rPr lang="en-US" b="1" u="sng"/>
              <a:t>File Integrity Monitoring System</a:t>
            </a:r>
            <a:endParaRPr lang="en-US" b="1" u="sng"/>
          </a:p>
        </p:txBody>
      </p:sp>
      <p:sp>
        <p:nvSpPr>
          <p:cNvPr id="4" name="Subtitle 3"/>
          <p:cNvSpPr/>
          <p:nvPr>
            <p:ph type="subTitle" idx="1"/>
          </p:nvPr>
        </p:nvSpPr>
        <p:spPr/>
        <p:txBody>
          <a:bodyPr/>
          <a:p>
            <a:r>
              <a:rPr lang="en-US" b="1">
                <a:highlight>
                  <a:srgbClr val="808080"/>
                </a:highlight>
              </a:rPr>
              <a:t> Name: Hamna Masood</a:t>
            </a:r>
            <a:endParaRPr lang="en-US" b="1">
              <a:highlight>
                <a:srgbClr val="808080"/>
              </a:highlight>
            </a:endParaRPr>
          </a:p>
          <a:p>
            <a:r>
              <a:rPr lang="en-US" b="1">
                <a:highlight>
                  <a:srgbClr val="808080"/>
                </a:highlight>
              </a:rPr>
              <a:t>RollNo: BITF24A042</a:t>
            </a:r>
            <a:endParaRPr lang="en-US" b="1">
              <a:highlight>
                <a:srgbClr val="808080"/>
              </a:highlight>
            </a:endParaRPr>
          </a:p>
          <a:p>
            <a:r>
              <a:rPr lang="en-US" b="1">
                <a:highlight>
                  <a:srgbClr val="808080"/>
                </a:highlight>
              </a:rPr>
              <a:t>          Course:  Informaion Security</a:t>
            </a:r>
            <a:endParaRPr lang="en-US" b="1">
              <a:highlight>
                <a:srgbClr val="808080"/>
              </a:highlight>
            </a:endParaRPr>
          </a:p>
          <a:p>
            <a:r>
              <a:rPr lang="en-US" b="1">
                <a:highlight>
                  <a:srgbClr val="808080"/>
                </a:highlight>
              </a:rPr>
              <a:t>Section: Afternoon</a:t>
            </a:r>
            <a:endParaRPr lang="en-US" b="1">
              <a:highlight>
                <a:srgbClr val="80808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831850" y="1050608"/>
            <a:ext cx="10515600" cy="2852737"/>
          </a:xfrm>
          <a:ln/>
        </p:spPr>
        <p:txBody>
          <a:bodyPr wrap="square" lIns="91440" tIns="45720" rIns="91440" bIns="45720" anchor="b" anchorCtr="0"/>
          <a:p>
            <a:pPr defTabSz="914400">
              <a:buNone/>
            </a:pPr>
            <a:r>
              <a:rPr lang="en-US" altLang="zh-CN" sz="7200" kern="1200" dirty="0">
                <a:latin typeface="+mj-lt"/>
                <a:ea typeface="+mj-ea"/>
                <a:cs typeface="+mj-cs"/>
              </a:rPr>
              <a:t>Problem Statement</a:t>
            </a:r>
            <a:endParaRPr lang="en-US" altLang="zh-CN" sz="72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" name="Text Placeholder 1"/>
          <p:cNvSpPr/>
          <p:nvPr>
            <p:ph type="body" idx="1"/>
          </p:nvPr>
        </p:nvSpPr>
        <p:spPr>
          <a:xfrm>
            <a:off x="2523853" y="4781868"/>
            <a:ext cx="7144294" cy="1500187"/>
          </a:xfrm>
        </p:spPr>
        <p:txBody>
          <a:bodyPr/>
          <a:p>
            <a:r>
              <a:rPr lang="en-US" altLang="en-US"/>
              <a:t>-Files can be modified or deleted without detection</a:t>
            </a:r>
            <a:endParaRPr lang="en-US" altLang="en-US"/>
          </a:p>
          <a:p>
            <a:r>
              <a:rPr lang="en-US" altLang="en-US"/>
              <a:t>-Important data integrity is at risk</a:t>
            </a:r>
            <a:endParaRPr lang="en-US" altLang="en-US"/>
          </a:p>
          <a:p>
            <a:r>
              <a:rPr lang="en-US" altLang="en-US"/>
              <a:t>-Need a system to detect changes in files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29895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Objectives:</a:t>
            </a:r>
            <a:endParaRPr kumimoji="0" lang="en-US" altLang="zh-CN" sz="66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57288" y="3622675"/>
            <a:ext cx="914400" cy="91440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42340" y="1896110"/>
            <a:ext cx="623633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solidFill>
                  <a:schemeClr val="tx1"/>
                </a:solidFill>
              </a:rPr>
              <a:t>-Detect file modification</a:t>
            </a:r>
            <a:endParaRPr lang="en-US" altLang="en-US" sz="2400" b="1">
              <a:solidFill>
                <a:schemeClr val="tx1"/>
              </a:solidFill>
            </a:endParaRPr>
          </a:p>
          <a:p>
            <a:endParaRPr lang="en-US" altLang="en-US" sz="2400" b="1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tx1"/>
                </a:solidFill>
              </a:rPr>
              <a:t>-Detect file deletion</a:t>
            </a:r>
            <a:endParaRPr lang="en-US" altLang="en-US" sz="2400" b="1">
              <a:solidFill>
                <a:schemeClr val="tx1"/>
              </a:solidFill>
            </a:endParaRPr>
          </a:p>
          <a:p>
            <a:endParaRPr lang="en-US" altLang="en-US" sz="2400" b="1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tx1"/>
                </a:solidFill>
              </a:rPr>
              <a:t>-Maintain baseline of file hashes</a:t>
            </a:r>
            <a:endParaRPr lang="en-US" altLang="en-US" sz="2400" b="1">
              <a:solidFill>
                <a:schemeClr val="tx1"/>
              </a:solidFill>
            </a:endParaRPr>
          </a:p>
          <a:p>
            <a:endParaRPr lang="en-US" altLang="en-US" sz="2400" b="1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tx1"/>
                </a:solidFill>
              </a:rPr>
              <a:t>-Ensure file integrity</a:t>
            </a:r>
            <a:endParaRPr lang="en-US" altLang="en-US" sz="2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905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Tools/Concepts Used:</a:t>
            </a:r>
            <a:endParaRPr kumimoji="0" lang="en-US" altLang="zh-CN" sz="54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" name="等腰三角形 34"/>
          <p:cNvSpPr/>
          <p:nvPr/>
        </p:nvSpPr>
        <p:spPr>
          <a:xfrm rot="16200000">
            <a:off x="7954010" y="2208530"/>
            <a:ext cx="367030" cy="316230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21640" y="1991995"/>
            <a:ext cx="799592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/>
              <a:t>-C++ Programming</a:t>
            </a:r>
            <a:endParaRPr lang="en-US" altLang="en-US" sz="2400" b="1"/>
          </a:p>
          <a:p>
            <a:endParaRPr lang="en-US" altLang="en-US" sz="2400" b="1"/>
          </a:p>
          <a:p>
            <a:r>
              <a:rPr lang="en-US" altLang="en-US" sz="2400" b="1"/>
              <a:t>-File Handling (ifstream, ofstream)</a:t>
            </a:r>
            <a:endParaRPr lang="en-US" altLang="en-US" sz="2400" b="1"/>
          </a:p>
          <a:p>
            <a:endParaRPr lang="en-US" altLang="en-US" sz="2400" b="1"/>
          </a:p>
          <a:p>
            <a:r>
              <a:rPr lang="en-US" altLang="en-US" sz="2400" b="1"/>
              <a:t>-Hashing Technique (Polynomial / MD5 / SHA-256)</a:t>
            </a:r>
            <a:endParaRPr lang="en-US" altLang="en-US" sz="2400" b="1"/>
          </a:p>
          <a:p>
            <a:endParaRPr lang="en-US" altLang="en-US" sz="2400" b="1"/>
          </a:p>
          <a:p>
            <a:r>
              <a:rPr lang="en-US" altLang="en-US" sz="2400" b="1"/>
              <a:t>-Data Integrity Concept</a:t>
            </a:r>
            <a:endParaRPr lang="en-US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15925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System Working:</a:t>
            </a:r>
            <a:endParaRPr kumimoji="0" lang="en-US" altLang="zh-CN" sz="54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93" name="矩形 11"/>
          <p:cNvSpPr/>
          <p:nvPr/>
        </p:nvSpPr>
        <p:spPr>
          <a:xfrm>
            <a:off x="613410" y="2073275"/>
            <a:ext cx="578866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Segoe UI" panose="020B0502040204020203" pitchFamily="34" charset="0"/>
                <a:ea typeface="Microsoft YaHei Light" panose="020B0502040204020203" pitchFamily="34" charset="-122"/>
              </a:rPr>
              <a:t>- User enters file names</a:t>
            </a:r>
            <a:endParaRPr lang="en-US" altLang="en-US" sz="2400" b="1" dirty="0">
              <a:solidFill>
                <a:schemeClr val="tx1"/>
              </a:solidFill>
              <a:latin typeface="Segoe UI" panose="020B0502040204020203" pitchFamily="34" charset="0"/>
              <a:ea typeface="Microsoft YaHei Light" panose="020B0502040204020203" pitchFamily="34" charset="-122"/>
            </a:endParaRPr>
          </a:p>
          <a:p>
            <a:pPr algn="l"/>
            <a:endParaRPr lang="en-US" altLang="en-US" sz="2400" b="1" dirty="0">
              <a:solidFill>
                <a:schemeClr val="tx1"/>
              </a:solidFill>
              <a:latin typeface="Segoe UI" panose="020B0502040204020203" pitchFamily="34" charset="0"/>
              <a:ea typeface="Microsoft YaHei Light" panose="020B0502040204020203" pitchFamily="34" charset="-122"/>
            </a:endParaRPr>
          </a:p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Segoe UI" panose="020B0502040204020203" pitchFamily="34" charset="0"/>
                <a:ea typeface="Microsoft YaHei Light" panose="020B0502040204020203" pitchFamily="34" charset="-122"/>
              </a:rPr>
              <a:t>- System calculates hash of each file</a:t>
            </a:r>
            <a:endParaRPr lang="en-US" altLang="en-US" sz="2400" b="1" dirty="0">
              <a:solidFill>
                <a:schemeClr val="tx1"/>
              </a:solidFill>
              <a:latin typeface="Segoe UI" panose="020B0502040204020203" pitchFamily="34" charset="0"/>
              <a:ea typeface="Microsoft YaHei Light" panose="020B0502040204020203" pitchFamily="34" charset="-122"/>
            </a:endParaRPr>
          </a:p>
          <a:p>
            <a:pPr algn="l"/>
            <a:endParaRPr lang="en-US" altLang="en-US" sz="2400" b="1" dirty="0">
              <a:solidFill>
                <a:schemeClr val="tx1"/>
              </a:solidFill>
              <a:latin typeface="Segoe UI" panose="020B0502040204020203" pitchFamily="34" charset="0"/>
              <a:ea typeface="Microsoft YaHei Light" panose="020B0502040204020203" pitchFamily="34" charset="-122"/>
            </a:endParaRPr>
          </a:p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Segoe UI" panose="020B0502040204020203" pitchFamily="34" charset="0"/>
                <a:ea typeface="Microsoft YaHei Light" panose="020B0502040204020203" pitchFamily="34" charset="-122"/>
              </a:rPr>
              <a:t>- Stores baseline (filename + hash)</a:t>
            </a:r>
            <a:endParaRPr lang="en-US" altLang="en-US" sz="2400" b="1" dirty="0">
              <a:solidFill>
                <a:schemeClr val="tx1"/>
              </a:solidFill>
              <a:latin typeface="Segoe UI" panose="020B0502040204020203" pitchFamily="34" charset="0"/>
              <a:ea typeface="Microsoft YaHei Light" panose="020B0502040204020203" pitchFamily="34" charset="-122"/>
            </a:endParaRPr>
          </a:p>
          <a:p>
            <a:pPr algn="l"/>
            <a:endParaRPr lang="en-US" altLang="en-US" sz="2400" b="1" dirty="0">
              <a:solidFill>
                <a:schemeClr val="tx1"/>
              </a:solidFill>
              <a:latin typeface="Segoe UI" panose="020B0502040204020203" pitchFamily="34" charset="0"/>
              <a:ea typeface="Microsoft YaHei Light" panose="020B0502040204020203" pitchFamily="34" charset="-122"/>
            </a:endParaRPr>
          </a:p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Segoe UI" panose="020B0502040204020203" pitchFamily="34" charset="0"/>
                <a:ea typeface="Microsoft YaHei Light" panose="020B0502040204020203" pitchFamily="34" charset="-122"/>
              </a:rPr>
              <a:t>- Later recalculates hash</a:t>
            </a:r>
            <a:endParaRPr lang="en-US" altLang="en-US" sz="2400" b="1" dirty="0">
              <a:solidFill>
                <a:schemeClr val="tx1"/>
              </a:solidFill>
              <a:latin typeface="Segoe UI" panose="020B0502040204020203" pitchFamily="34" charset="0"/>
              <a:ea typeface="Microsoft YaHei Light" panose="020B0502040204020203" pitchFamily="34" charset="-122"/>
            </a:endParaRPr>
          </a:p>
          <a:p>
            <a:pPr algn="l"/>
            <a:endParaRPr lang="en-US" altLang="en-US" sz="2400" b="1" dirty="0">
              <a:solidFill>
                <a:schemeClr val="tx1"/>
              </a:solidFill>
              <a:latin typeface="Segoe UI" panose="020B0502040204020203" pitchFamily="34" charset="0"/>
              <a:ea typeface="Microsoft YaHei Light" panose="020B0502040204020203" pitchFamily="34" charset="-122"/>
            </a:endParaRPr>
          </a:p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Segoe UI" panose="020B0502040204020203" pitchFamily="34" charset="0"/>
                <a:ea typeface="Microsoft YaHei Light" panose="020B0502040204020203" pitchFamily="34" charset="-122"/>
              </a:rPr>
              <a:t>- Compares old vs new hash</a:t>
            </a:r>
            <a:endParaRPr lang="en-US" altLang="en-US" sz="2400" b="1" dirty="0">
              <a:solidFill>
                <a:schemeClr val="tx1"/>
              </a:solidFill>
              <a:latin typeface="Segoe UI" panose="020B0502040204020203" pitchFamily="34" charset="0"/>
              <a:ea typeface="Microsoft YaHei Light" panose="020B0502040204020203" pitchFamily="3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750300" y="2940685"/>
            <a:ext cx="3734435" cy="976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/>
              <a:t>- Safe</a:t>
            </a:r>
            <a:endParaRPr lang="en-US" altLang="en-US" sz="2800" b="1"/>
          </a:p>
          <a:p>
            <a:r>
              <a:rPr lang="en-US" altLang="en-US" sz="2800" b="1"/>
              <a:t>-Modified</a:t>
            </a:r>
            <a:endParaRPr lang="en-US" altLang="en-US" sz="2800" b="1"/>
          </a:p>
          <a:p>
            <a:r>
              <a:rPr lang="en-US" altLang="en-US" sz="2800" b="1"/>
              <a:t>-Deleted</a:t>
            </a:r>
            <a:endParaRPr lang="en-US" sz="2800" b="1"/>
          </a:p>
        </p:txBody>
      </p:sp>
      <p:sp>
        <p:nvSpPr>
          <p:cNvPr id="3" name="Text Box 2"/>
          <p:cNvSpPr txBox="1"/>
          <p:nvPr/>
        </p:nvSpPr>
        <p:spPr>
          <a:xfrm>
            <a:off x="8341995" y="2046605"/>
            <a:ext cx="2710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u="sng">
                <a:solidFill>
                  <a:schemeClr val="tx1"/>
                </a:solidFill>
              </a:rPr>
              <a:t>. OUTPUT:</a:t>
            </a:r>
            <a:endParaRPr lang="en-US" sz="2800" b="1" u="sng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Hashing Technique:</a:t>
            </a:r>
            <a:endParaRPr kumimoji="0" lang="en-US" altLang="zh-CN" sz="44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89330" y="2097405"/>
            <a:ext cx="57473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>
                <a:solidFill>
                  <a:schemeClr val="tx1"/>
                </a:solidFill>
              </a:rPr>
              <a:t>- Simple string hashing method</a:t>
            </a:r>
            <a:endParaRPr lang="en-US" altLang="en-US" sz="2800" b="1">
              <a:solidFill>
                <a:schemeClr val="tx1"/>
              </a:solidFill>
            </a:endParaRPr>
          </a:p>
          <a:p>
            <a:endParaRPr lang="en-US" altLang="en-US" sz="2800" b="1">
              <a:solidFill>
                <a:schemeClr val="tx1"/>
              </a:solidFill>
            </a:endParaRPr>
          </a:p>
          <a:p>
            <a:r>
              <a:rPr lang="en-US" altLang="en-US" sz="2800" b="1">
                <a:solidFill>
                  <a:schemeClr val="tx1"/>
                </a:solidFill>
              </a:rPr>
              <a:t>- Order-sensitive</a:t>
            </a:r>
            <a:endParaRPr lang="en-US" altLang="en-US" sz="2800" b="1">
              <a:solidFill>
                <a:schemeClr val="tx1"/>
              </a:solidFill>
            </a:endParaRPr>
          </a:p>
          <a:p>
            <a:endParaRPr lang="en-US" altLang="en-US" sz="2800" b="1">
              <a:solidFill>
                <a:schemeClr val="tx1"/>
              </a:solidFill>
            </a:endParaRPr>
          </a:p>
          <a:p>
            <a:r>
              <a:rPr lang="en-US" altLang="en-US" sz="2800" b="1">
                <a:solidFill>
                  <a:schemeClr val="tx1"/>
                </a:solidFill>
              </a:rPr>
              <a:t>- Used for integrity checking</a:t>
            </a:r>
            <a:endParaRPr lang="en-US" altLang="en-US"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21615" y="170180"/>
            <a:ext cx="10531475" cy="13258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Demo/Output:</a:t>
            </a:r>
            <a:endParaRPr kumimoji="0" lang="en-US" altLang="zh-CN" sz="44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ss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75" y="2129155"/>
            <a:ext cx="3606800" cy="2870200"/>
          </a:xfrm>
          <a:prstGeom prst="rect">
            <a:avLst/>
          </a:prstGeom>
        </p:spPr>
      </p:pic>
      <p:pic>
        <p:nvPicPr>
          <p:cNvPr id="5" name="Picture 4" descr="case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975" y="4939030"/>
            <a:ext cx="3956050" cy="1784350"/>
          </a:xfrm>
          <a:prstGeom prst="rect">
            <a:avLst/>
          </a:prstGeom>
        </p:spPr>
      </p:pic>
      <p:pic>
        <p:nvPicPr>
          <p:cNvPr id="6" name="Picture 5" descr="case-2(when modified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35" y="2246630"/>
            <a:ext cx="4143375" cy="1809750"/>
          </a:xfrm>
          <a:prstGeom prst="rect">
            <a:avLst/>
          </a:prstGeom>
        </p:spPr>
      </p:pic>
      <p:pic>
        <p:nvPicPr>
          <p:cNvPr id="7" name="Picture 6" descr="orig fi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75" y="5999480"/>
            <a:ext cx="2762250" cy="787400"/>
          </a:xfrm>
          <a:prstGeom prst="rect">
            <a:avLst/>
          </a:prstGeom>
        </p:spPr>
      </p:pic>
      <p:pic>
        <p:nvPicPr>
          <p:cNvPr id="10" name="Picture 9" descr="file chang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355" y="2129155"/>
            <a:ext cx="2425700" cy="641350"/>
          </a:xfrm>
          <a:prstGeom prst="rect">
            <a:avLst/>
          </a:prstGeom>
        </p:spPr>
      </p:pic>
      <p:pic>
        <p:nvPicPr>
          <p:cNvPr id="11" name="Picture 10" descr="case-3(When deleted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940" y="4807585"/>
            <a:ext cx="3909060" cy="18288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502920" y="1366520"/>
            <a:ext cx="31489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u="sng">
                <a:solidFill>
                  <a:schemeClr val="bg1"/>
                </a:solidFill>
              </a:rPr>
              <a:t>1-Creating BaseLine Filename:</a:t>
            </a:r>
            <a:endParaRPr lang="en-US" sz="2000" b="1" u="sng">
              <a:solidFill>
                <a:schemeClr val="bg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72745" y="5522595"/>
            <a:ext cx="2565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u="sng">
                <a:solidFill>
                  <a:schemeClr val="bg1"/>
                </a:solidFill>
              </a:rPr>
              <a:t>2-Original hash.txt</a:t>
            </a:r>
            <a:endParaRPr lang="en-US" sz="2000" b="1" u="sng">
              <a:solidFill>
                <a:schemeClr val="bg1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4999355" y="1496060"/>
            <a:ext cx="26949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u="sng">
                <a:solidFill>
                  <a:schemeClr val="bg1"/>
                </a:solidFill>
              </a:rPr>
              <a:t>3-Modified hash.txt</a:t>
            </a:r>
            <a:endParaRPr lang="en-US" sz="2000" b="1" u="sng">
              <a:solidFill>
                <a:schemeClr val="bg1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391660" y="4261485"/>
            <a:ext cx="3575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u="sng">
                <a:solidFill>
                  <a:schemeClr val="bg1"/>
                </a:solidFill>
              </a:rPr>
              <a:t>4-When File is safe</a:t>
            </a:r>
            <a:r>
              <a:rPr lang="en-US" sz="2000" b="1" u="sng"/>
              <a:t>:</a:t>
            </a:r>
            <a:endParaRPr lang="en-US" sz="2000" b="1" u="sng"/>
          </a:p>
        </p:txBody>
      </p:sp>
      <p:sp>
        <p:nvSpPr>
          <p:cNvPr id="16" name="Text Box 15"/>
          <p:cNvSpPr txBox="1"/>
          <p:nvPr/>
        </p:nvSpPr>
        <p:spPr>
          <a:xfrm>
            <a:off x="8136255" y="1710690"/>
            <a:ext cx="35198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u="sng">
                <a:solidFill>
                  <a:schemeClr val="bg1"/>
                </a:solidFill>
              </a:rPr>
              <a:t>5-When File is Modified:</a:t>
            </a:r>
            <a:endParaRPr lang="en-US" sz="2000" b="1" u="sng">
              <a:solidFill>
                <a:schemeClr val="bg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416925" y="4300855"/>
            <a:ext cx="33928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u="sng">
                <a:solidFill>
                  <a:schemeClr val="bg1"/>
                </a:solidFill>
              </a:rPr>
              <a:t>6-When File is Deleted:</a:t>
            </a:r>
            <a:endParaRPr lang="en-US" sz="2000" b="1" u="sng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xfrm>
            <a:off x="747395" y="225108"/>
            <a:ext cx="10515600" cy="2852737"/>
          </a:xfrm>
          <a:ln/>
        </p:spPr>
        <p:txBody>
          <a:bodyPr wrap="square" lIns="91440" tIns="45720" rIns="91440" bIns="45720" anchor="b" anchorCtr="0"/>
          <a:p>
            <a:pPr defTabSz="914400">
              <a:buNone/>
            </a:pPr>
            <a:r>
              <a:rPr lang="en-US" altLang="zh-CN" sz="72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  <a:endParaRPr lang="en-US" altLang="zh-CN" sz="7200" u="sng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 Placeholder 1"/>
          <p:cNvSpPr/>
          <p:nvPr>
            <p:ph type="body" idx="1"/>
          </p:nvPr>
        </p:nvSpPr>
        <p:spPr>
          <a:xfrm>
            <a:off x="2843258" y="4611053"/>
            <a:ext cx="7144294" cy="1500187"/>
          </a:xfrm>
        </p:spPr>
        <p:txBody>
          <a:bodyPr/>
          <a:p>
            <a:r>
              <a:rPr lang="en-US" altLang="en-US" b="1">
                <a:solidFill>
                  <a:schemeClr val="tx1"/>
                </a:solidFill>
              </a:rPr>
              <a:t>- System successfully detects file changes</a:t>
            </a:r>
            <a:endParaRPr lang="en-US" altLang="en-US" b="1">
              <a:solidFill>
                <a:schemeClr val="tx1"/>
              </a:solidFill>
            </a:endParaRPr>
          </a:p>
          <a:p>
            <a:endParaRPr lang="en-US" altLang="en-US" b="1">
              <a:solidFill>
                <a:schemeClr val="tx1"/>
              </a:solidFill>
            </a:endParaRPr>
          </a:p>
          <a:p>
            <a:r>
              <a:rPr lang="en-US" altLang="en-US" b="1">
                <a:solidFill>
                  <a:schemeClr val="tx1"/>
                </a:solidFill>
              </a:rPr>
              <a:t>- Ensures basic data integrity</a:t>
            </a:r>
            <a:endParaRPr lang="en-US" altLang="en-US" b="1">
              <a:solidFill>
                <a:schemeClr val="tx1"/>
              </a:solidFill>
            </a:endParaRPr>
          </a:p>
          <a:p>
            <a:endParaRPr lang="en-US" altLang="en-US" b="1">
              <a:solidFill>
                <a:schemeClr val="tx1"/>
              </a:solidFill>
            </a:endParaRPr>
          </a:p>
          <a:p>
            <a:r>
              <a:rPr lang="en-US" altLang="en-US" b="1">
                <a:solidFill>
                  <a:schemeClr val="tx1"/>
                </a:solidFill>
              </a:rPr>
              <a:t>- be improved using SHA-256 in future</a:t>
            </a:r>
            <a:endParaRPr lang="en-US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微软雅黑 Light"/>
        <a:cs typeface=""/>
      </a:majorFont>
      <a:minorFont>
        <a:latin typeface="Segoe UI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</Words>
  <Application>WPS Presentation</Application>
  <PresentationFormat>宽屏</PresentationFormat>
  <Paragraphs>81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Segoe UI</vt:lpstr>
      <vt:lpstr>Microsoft YaHei Light</vt:lpstr>
      <vt:lpstr>Calibri</vt:lpstr>
      <vt:lpstr>Kozuka Gothic Pr6N H</vt:lpstr>
      <vt:lpstr>Yu Gothic</vt:lpstr>
      <vt:lpstr>Microsoft YaHei</vt:lpstr>
      <vt:lpstr>Calibri Light</vt:lpstr>
      <vt:lpstr>MS Mincho</vt:lpstr>
      <vt:lpstr>方正综艺简体</vt:lpstr>
      <vt:lpstr>Arial Unicode MS</vt:lpstr>
      <vt:lpstr>黑体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AnnJo</dc:creator>
  <cp:lastModifiedBy>Hamna Masood</cp:lastModifiedBy>
  <cp:revision>50</cp:revision>
  <dcterms:created xsi:type="dcterms:W3CDTF">2014-12-20T13:05:45Z</dcterms:created>
  <dcterms:modified xsi:type="dcterms:W3CDTF">2026-04-19T06:45:26Z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E52D2339B7C443A0B00CDC9DCECE4818_13</vt:lpwstr>
  </property>
</Properties>
</file>